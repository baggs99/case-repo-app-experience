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E2A47"/>
                </a:solidFill>
              </a:rPr>
              <a:t>Difficulty distribution (all 467 cases)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2E86AB"/>
            </a:solidFill>
          </c:spPr>
          <c:cat>
            <c:strRef>
              <c:f>Sheet1!$A$2:$A$4</c:f>
              <c:strCache>
                <c:ptCount val="3"/>
                <c:pt idx="0">
                  <c:v>Easy</c:v>
                </c:pt>
                <c:pt idx="1">
                  <c:v>Medium</c:v>
                </c:pt>
                <c:pt idx="2">
                  <c:v>Hard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281</c:v>
                </c:pt>
                <c:pt idx="2">
                  <c:v>88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0E2A47"/>
                </a:solidFill>
              </a:rPr>
              <a:t>Top sources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E06C4C"/>
            </a:solidFill>
          </c:spPr>
          <c:cat>
            <c:strRef>
              <c:f>Sheet1!$A$2:$A$9</c:f>
              <c:strCache>
                <c:ptCount val="8"/>
                <c:pt idx="0">
                  <c:v>MIT</c:v>
                </c:pt>
                <c:pt idx="1">
                  <c:v>Ross</c:v>
                </c:pt>
                <c:pt idx="2">
                  <c:v>Stern</c:v>
                </c:pt>
                <c:pt idx="3">
                  <c:v>Darden</c:v>
                </c:pt>
                <c:pt idx="4">
                  <c:v>Booth</c:v>
                </c:pt>
                <c:pt idx="5">
                  <c:v>Kellogg</c:v>
                </c:pt>
                <c:pt idx="6">
                  <c:v>Columbia</c:v>
                </c:pt>
                <c:pt idx="7">
                  <c:v>rocketblocks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</c:v>
                </c:pt>
                <c:pt idx="1">
                  <c:v>40</c:v>
                </c:pt>
                <c:pt idx="2">
                  <c:v>42</c:v>
                </c:pt>
                <c:pt idx="3">
                  <c:v>47</c:v>
                </c:pt>
                <c:pt idx="4">
                  <c:v>47</c:v>
                </c:pt>
                <c:pt idx="5">
                  <c:v>54</c:v>
                </c:pt>
                <c:pt idx="6">
                  <c:v>58</c:v>
                </c:pt>
                <c:pt idx="7">
                  <c:v>68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2E86AB"/>
                </a:solidFill>
                <a:latin typeface="Calibri"/>
              </a:rPr>
              <a:t>CASE REPO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10698480" cy="10972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From a pile of PDFs to a searchable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case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0">
                <a:solidFill>
                  <a:srgbClr val="F3E9DD"/>
                </a:solidFill>
                <a:latin typeface="Calibri"/>
              </a:rPr>
              <a:t>A local-first pipeline that splits consulting casebooks, extracts structured metadata, and tags every case with a calibrated difficulty.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300" b="0">
                <a:solidFill>
                  <a:srgbClr val="6B7580"/>
                </a:solidFill>
                <a:latin typeface="Calibri"/>
              </a:rPr>
              <a:t>Project overview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Casebooks are heterogeneous, bundled, and only semi-structured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94960" cy="4754880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9377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What we start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Dozens of MBA casebooks, one PDF per school-year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Each file contains 5–50 cases bundled together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Every school uses a different layout, TOC style, and metadata scheme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Difficulty, case type, and industry are inconsistently labelled (or missing)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2E86AB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No easy way to answer: “Give me a Hard, data-heavy market-entry case”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371600"/>
            <a:ext cx="539496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394960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493776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What we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6596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E06C4C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One PDF per case, cleanly named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06C4C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A single catalog row per case with school, year, type, concepts, difficulty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06C4C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Every case taggable, filterable, and queryable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06C4C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An audit trail for every automated decision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E06C4C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Humans stay in the loop for anything uncertain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How the pipeline fits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Six stages, each with its own audit surface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03120"/>
            <a:ext cx="17830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783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Scan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17830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160020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Walk the input tree; find every PDF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58568" y="3410712"/>
            <a:ext cx="109728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86584" y="2103120"/>
            <a:ext cx="1783080" cy="457200"/>
          </a:xfrm>
          <a:prstGeom prst="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6584" y="2103120"/>
            <a:ext cx="1783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Classify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86584" y="2560320"/>
            <a:ext cx="17830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651760"/>
            <a:ext cx="160020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Multi-case casebook vs already-split?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87952" y="3410712"/>
            <a:ext cx="109728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2103120"/>
            <a:ext cx="1783080" cy="4572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2103120"/>
            <a:ext cx="1783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Split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2560320"/>
            <a:ext cx="17830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651760"/>
            <a:ext cx="160020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Find case boundaries, write per-case PDFs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117336" y="3410712"/>
            <a:ext cx="109728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2103120"/>
            <a:ext cx="1783080" cy="457200"/>
          </a:xfrm>
          <a:prstGeom prst="rect">
            <a:avLst/>
          </a:prstGeom>
          <a:solidFill>
            <a:srgbClr val="334E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5352" y="2103120"/>
            <a:ext cx="1783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Extract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2560320"/>
            <a:ext cx="17830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651760"/>
            <a:ext cx="160020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Pull title, school, year, type, concepts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46720" y="3410712"/>
            <a:ext cx="109728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74736" y="2103120"/>
            <a:ext cx="1783080" cy="457200"/>
          </a:xfrm>
          <a:prstGeom prst="rect">
            <a:avLst/>
          </a:prstGeom>
          <a:solidFill>
            <a:srgbClr val="E06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4736" y="2103120"/>
            <a:ext cx="1783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 Enrich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74736" y="2560320"/>
            <a:ext cx="17830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2651760"/>
            <a:ext cx="160020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OpenAI fills missing difficulty labels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76104" y="3410712"/>
            <a:ext cx="109728" cy="228600"/>
          </a:xfrm>
          <a:prstGeom prst="rightArrow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04120" y="2103120"/>
            <a:ext cx="1783080" cy="4572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103120"/>
            <a:ext cx="1783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6. Audit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2560320"/>
            <a:ext cx="1783080" cy="237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95560" y="2651760"/>
            <a:ext cx="1600200" cy="2194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Manifest + review queue + audit CSVs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334E68"/>
                </a:solidFill>
                <a:latin typeface="Calibri"/>
              </a:rPr>
              <a:t>Every stage is idempotent and dry-runnable. Re-running only touches work that hasn't already been done.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Splitting casebooks into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Primary parser + fallback, with confidence scoring at every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57784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73152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Primary: TOC-driven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6B7580"/>
                </a:solidFill>
                <a:latin typeface="Calibri"/>
              </a:rPr>
              <a:t>Starting confidence: 0.90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Regex-matches five TOC layouts (dotted leaders, tabs, "page X", …)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Detects page-number offset for books with unnumbered front matter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Validates each start page actually contains the expected title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One CaseBoundary per TOC entry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577840" cy="4754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577840" cy="73152"/>
          </a:xfrm>
          <a:prstGeom prst="rect">
            <a:avLst/>
          </a:prstGeom>
          <a:solidFill>
            <a:srgbClr val="E06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Fallback: header-pattern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50292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6B7580"/>
                </a:solidFill>
                <a:latin typeface="Calibri"/>
              </a:rPr>
              <a:t>Max confidence: 0.75 ×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Scores every page on 8 weighted layout signals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Positive: short text, top-of-page title, metadata labels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Negative: mid-case markers (“Exhibit”, “Question 3” …)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Prunes candidates closer than min_case_pages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What comes out the other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One row per case with structured, filterable fields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2697480" cy="5029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697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974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case_title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source_school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source_year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source_pdf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page_start / page_end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508760"/>
            <a:ext cx="2697480" cy="5029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2697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011680"/>
            <a:ext cx="26974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4884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case_type_normalized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industry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interviewer_style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concepts_tested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2697480" cy="5029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08760"/>
            <a:ext cx="2697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011680"/>
            <a:ext cx="26974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difficulty_normalized (Easy/Med/Hard)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difficulty_score (1–10)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difficulty_quant / qual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difficulty_notes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difficulty_source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8280" y="1508760"/>
            <a:ext cx="2697480" cy="5029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508760"/>
            <a:ext cx="269748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Provenance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011680"/>
            <a:ext cx="2697480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148840"/>
            <a:ext cx="2423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detection_method (toc / header / single)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extraction_confidence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needs_manual_review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review_flags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2E86AB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confidence_notes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334E68"/>
                </a:solidFill>
                <a:latin typeface="Calibri"/>
              </a:rPr>
              <a:t>Every catalog row is traceable back to the source PDF, the detection method, and the confidence the pipeline had at every step.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OpenAI difficulty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Calibrated, structured, auditable — not vibes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822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Select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4572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Only rows where difficulty_normalized is blank. Human labels are never overwritten (unless --force).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1732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417320"/>
            <a:ext cx="822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6304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Anchor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4572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3–5 already-labeled cases per bucket are injected as in-context calibration examples, diversified by school and case type.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822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97180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Packet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37560"/>
            <a:ext cx="4572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Compact JSON: title, school, year, case type, concepts, prompt excerpt, optional first-pages text from the split PDF.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92608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926080"/>
            <a:ext cx="822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97180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337560"/>
            <a:ext cx="4572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OpenAI Responses API (default gpt-5.1) with a strict JSON schema. Temperature is auto-dropped for reasoning models.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822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48056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Write back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846320"/>
            <a:ext cx="4572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Writes difficulty_normalized / score / notes and stamps difficulty_source=openai_calibrated + model + confidence.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434840"/>
            <a:ext cx="822960" cy="82296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434840"/>
            <a:ext cx="82296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480560"/>
            <a:ext cx="4572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Audit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846320"/>
            <a:ext cx="457200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Every call logged: predictions CSV, failures CSV, needs-review CSV, and the exact anchor set used.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Calibration QA — trust before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Does the classifier agree with humans before we let it run on 217 rows?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760720" cy="4846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760720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2120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E2A47"/>
                </a:solidFill>
                <a:latin typeface="Calibri"/>
              </a:rPr>
              <a:t>evaluate-difficulty-calibration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Stratified sample of human-labeled cases (Easy/Med/Hard)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Sampled titles are EXCLUDED from the anchor pool → no leakage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Classifier runs on the sample; the catalog is never modified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Reports match rate, confusion matrix, avg |score gap|, worst misses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2E86AB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Warning thresholds: ≥ 70% exact match, ≤ 1.0 avg score gap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03520" cy="4846320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700" b="1">
                <a:solidFill>
                  <a:srgbClr val="0E2A47"/>
                </a:solidFill>
                <a:latin typeface="Calibri"/>
              </a:rPr>
              <a:t>Model bake-off (n=9 per run)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192024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2194560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0" y="2148840"/>
            <a:ext cx="146304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2194560"/>
            <a:ext cx="14630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2148840"/>
            <a:ext cx="1554480" cy="384048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2194560"/>
            <a:ext cx="1554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Avg |gap|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2532888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578608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gpt-5.1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2532888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0" y="2578608"/>
            <a:ext cx="14630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44.4%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532888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2578608"/>
            <a:ext cx="1554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1.63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916936"/>
            <a:ext cx="1920240" cy="384048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962656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gpt-5-mini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2916936"/>
            <a:ext cx="1463040" cy="384048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2962656"/>
            <a:ext cx="14630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44.4%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2916936"/>
            <a:ext cx="1554480" cy="384048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2962656"/>
            <a:ext cx="1554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1.69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300984"/>
            <a:ext cx="19202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346704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gpt-4.1-mini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300984"/>
            <a:ext cx="14630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3346704"/>
            <a:ext cx="14630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33.3%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3300984"/>
            <a:ext cx="15544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49840" y="3346704"/>
            <a:ext cx="1554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1.83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3685032"/>
            <a:ext cx="1920240" cy="384048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3730752"/>
            <a:ext cx="19202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o3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3685032"/>
            <a:ext cx="1463040" cy="384048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730752"/>
            <a:ext cx="146304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28.6%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3685032"/>
            <a:ext cx="1554480" cy="384048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3730752"/>
            <a:ext cx="155448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1.91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4480560"/>
            <a:ext cx="4754880" cy="1737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gpt-5.1 wins on accuracy and quality of rationale.</a:t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A1A1A"/>
                </a:solidFill>
                <a:latin typeface="Calibri"/>
              </a:rPr>
              <a:t>Most disagreements were consistent across models — a signal that a handful of human labels might deserve a second look, not that the classifier is broken.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Current catalog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467 cases · 13 schools · 2002 – 2026 · 100% difficulty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867" y="1371600"/>
            <a:ext cx="2606040" cy="11887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867" y="1417320"/>
            <a:ext cx="260604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467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867" y="214884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F3E9DD"/>
                </a:solidFill>
                <a:latin typeface="Calibri"/>
              </a:rPr>
              <a:t>total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5507" y="1371600"/>
            <a:ext cx="2606040" cy="11887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5507" y="1417320"/>
            <a:ext cx="260604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5507" y="214884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F3E9DD"/>
                </a:solidFill>
                <a:latin typeface="Calibri"/>
              </a:rPr>
              <a:t>source schools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0147" y="1371600"/>
            <a:ext cx="2606040" cy="11887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0147" y="1417320"/>
            <a:ext cx="260604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217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214884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F3E9DD"/>
                </a:solidFill>
                <a:latin typeface="Calibri"/>
              </a:rPr>
              <a:t>cases auto-rated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44787" y="1371600"/>
            <a:ext cx="2606040" cy="11887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4787" y="1417320"/>
            <a:ext cx="2606040" cy="8229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4787" y="2148840"/>
            <a:ext cx="260604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300" b="0">
                <a:solidFill>
                  <a:srgbClr val="F3E9DD"/>
                </a:solidFill>
                <a:latin typeface="Calibri"/>
              </a:rPr>
              <a:t>classifier failures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57200" y="288036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17920" y="2880360"/>
          <a:ext cx="548640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Guardrails &amp;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Everything an automation touches is inspectable after the 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Guardrails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8640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Never overwrite a hand-labeled difficulty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Anchors exclude the row being evaluated (no leakage)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Strict JSON schema — malformed responses retry once, then fail loud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--dry-run on every command; --force required to overwrite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0E2A47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Low-confidence + near-boundary predictions auto-flagged for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solidFill>
            <a:srgbClr val="E06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Audit 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874519"/>
            <a:ext cx="548640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manifest.json / manifest.csv — every case, every decision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review_queue.csv — only cases that need human eyes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llm_difficulty_predictions.csv — full model response log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llm_difficulty_failures.csv — API / parse errors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E06C4C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llm_difficulty_needs_review.csv — flagged predictions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4300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800" b="1">
                <a:solidFill>
                  <a:srgbClr val="0E2A47"/>
                </a:solidFill>
                <a:latin typeface="Calibri"/>
              </a:rPr>
              <a:t>How to drive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6B7580"/>
                </a:solidFill>
                <a:latin typeface="Calibri"/>
              </a:rPr>
              <a:t>Single CLI, one command per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1247120" cy="731520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onsolas"/>
              </a:rPr>
              <a:t>python main.py scan --input "Case Repo"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Calibri"/>
              </a:rPr>
              <a:t>Classify every PDF as multi-case vs single-case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11247120" cy="731520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96312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onsolas"/>
              </a:rPr>
              <a:t>python main.py split --input "Case Repo" --output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0720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Calibri"/>
              </a:rPr>
              <a:t>Write per-case PDFs + manifest.json / 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onsolas"/>
              </a:rPr>
              <a:t>python main.py review --manifest output/manifest.json --only-flagged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7588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Calibri"/>
              </a:rPr>
              <a:t>Walk the review queue interactively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11247120" cy="731520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33672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onsolas"/>
              </a:rPr>
              <a:t>python main.py evaluate-difficulty-calibration --sample-size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4456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Calibri"/>
              </a:rPr>
              <a:t>QA the classifier against existing labels (no catalog writes)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solidFill>
            <a:srgbClr val="F3E9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02352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onsolas"/>
              </a:rPr>
              <a:t>python main.py classify-difficulty --cases-root output/cases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13248"/>
            <a:ext cx="109728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200" b="0">
                <a:solidFill>
                  <a:srgbClr val="334E68"/>
                </a:solidFill>
                <a:latin typeface="Calibri"/>
              </a:rPr>
              <a:t>Fill every blank difficulty with a calibrated OpenAI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000" b="0">
                <a:solidFill>
                  <a:srgbClr val="6B7580"/>
                </a:solidFill>
                <a:latin typeface="Calibri"/>
              </a:rPr>
              <a:t>Case Repo — casebook-splitting &amp; enrichment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/>
            <a:r>
              <a:rPr sz="1000" b="0">
                <a:solidFill>
                  <a:srgbClr val="6B7580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From pile of PDFs to queryable catalog.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2000" b="0">
                <a:solidFill>
                  <a:srgbClr val="F3E9DD"/>
                </a:solidFill>
                <a:latin typeface="Calibri"/>
              </a:rPr>
              <a:t>Automation where it's safe. Humans where it matters.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/>
            <a:r>
              <a:rPr sz="1500" b="0">
                <a:solidFill>
                  <a:srgbClr val="2E86AB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